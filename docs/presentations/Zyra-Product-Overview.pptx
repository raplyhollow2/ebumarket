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F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331720"/>
            <a:ext cx="1280160" cy="73152"/>
          </a:xfrm>
          <a:prstGeom prst="rect">
            <a:avLst/>
          </a:prstGeom>
          <a:solidFill>
            <a:srgbClr val="EB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BE4D6"/>
                </a:solidFill>
                <a:latin typeface="Calibri"/>
              </a:rPr>
              <a:t>PRODUCT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Georgia"/>
              </a:rPr>
              <a:t>Zyra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>
                <a:solidFill>
                  <a:srgbClr val="F7F4EF"/>
                </a:solidFill>
                <a:latin typeface="Georgia"/>
              </a:rPr>
              <a:t>Clothes that get a second life.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D8D0C0"/>
                </a:solidFill>
                <a:latin typeface="Calibri"/>
              </a:rPr>
              <a:t>A trusted teen marketplace and donation platform for circular fashion.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7F4EF"/>
                </a:solidFill>
                <a:latin typeface="Calibri"/>
              </a:rPr>
              <a:t>Peer Marketplace  ·  Donation Centres  ·  Verified Trust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200" b="0">
                <a:solidFill>
                  <a:srgbClr val="D8D0C0"/>
                </a:solidFill>
                <a:latin typeface="Calibri"/>
              </a:rPr>
              <a:t>International product presentation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806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EBE4D6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01 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What we will cover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848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Calibri"/>
              </a:rPr>
              <a:t>The opportunity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Why teens need a safer circular fashion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6207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Calibri"/>
              </a:rPr>
              <a:t>Product solution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Marketplace, Donation Hub, and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7588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3931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Calibri"/>
              </a:rPr>
              <a:t>Experience design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Mobile–desktop parity and PWA install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531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1655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Calibri"/>
              </a:rPr>
              <a:t>Trust &amp; operations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Admin ERP, centres, and donor motivation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3036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9379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Calibri"/>
              </a:rPr>
              <a:t>Technology &amp; roadmap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Stack, readiness, and next horizon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02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Teens outgrow clothes. Trust does not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Existing marketplaces feel adult-oriented. Donation often means “bag it and hope.”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109728" cy="169164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Fast fashion churn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Clothes are discarded early with no safe local reuse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109728" cy="169164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Trust gap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Fake photos, unclear sellers, and weak verification erode confidence.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109728" cy="169164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Donation friction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Giving clothes to orphanages and centres is opaque and informal.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06908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069080"/>
            <a:ext cx="109728" cy="169164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38912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Age-fit UX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Adult marketplaces are not designed for teen clarity or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03 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One platform. Two missions. Visible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Zyra helps teens reuse clothes locally through a verified peer marketplace and free donation hub.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0632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A3A"/>
                </a:solidFill>
                <a:latin typeface="Calibri"/>
              </a:rPr>
              <a:t>01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2400" b="1">
                <a:solidFill>
                  <a:srgbClr val="1C3024"/>
                </a:solidFill>
                <a:latin typeface="Georgia"/>
              </a:rPr>
              <a:t>Marketplace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1">
                <a:solidFill>
                  <a:srgbClr val="2F4A3A"/>
                </a:solidFill>
                <a:latin typeface="Calibri"/>
              </a:rPr>
              <a:t>Sell &amp; buy verified fashion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Multi-angle photos, COD or online pay, clear fee breakdown.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9456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30632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A3A"/>
                </a:solidFill>
                <a:latin typeface="Calibri"/>
              </a:rPr>
              <a:t>02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2400" b="1">
                <a:solidFill>
                  <a:srgbClr val="1C3024"/>
                </a:solidFill>
                <a:latin typeface="Georgia"/>
              </a:rPr>
              <a:t>Donation Hub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1">
                <a:solidFill>
                  <a:srgbClr val="2F4A3A"/>
                </a:solidFill>
                <a:latin typeface="Calibri"/>
              </a:rPr>
              <a:t>Give clothes a next home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Peer gifts + orphanages &amp; centres, multi-item donation basket.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9456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68880"/>
            <a:ext cx="30632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D8D0C0"/>
                </a:solidFill>
                <a:latin typeface="Calibri"/>
              </a:rPr>
              <a:t>03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Verified by Zyra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1">
                <a:solidFill>
                  <a:srgbClr val="D8D0C0"/>
                </a:solidFill>
                <a:latin typeface="Calibri"/>
              </a:rPr>
              <a:t>Trust you can see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1400" b="0">
                <a:solidFill>
                  <a:srgbClr val="F7F4EF"/>
                </a:solidFill>
                <a:latin typeface="Calibri"/>
              </a:rPr>
              <a:t>Admin review before anything goes live — Pending vs 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04 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A fashion-native buying &amp; selling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International product-card standards: multi-column grids, 3:4 portrait tiles, quick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576072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3024"/>
                </a:solidFill>
                <a:latin typeface="Calibri"/>
              </a:rPr>
              <a:t>Sell composer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Single-screen listing with required photo angles and pricing.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76072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3024"/>
                </a:solidFill>
                <a:latin typeface="Calibri"/>
              </a:rPr>
              <a:t>Verified feed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Only Verified by Zyra items appear on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40"/>
            <a:ext cx="576072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3024"/>
                </a:solidFill>
                <a:latin typeface="Calibri"/>
              </a:rPr>
              <a:t>Buy with clarity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COD or Stripe test checkout with transparent fees.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37760"/>
            <a:ext cx="576072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3024"/>
                </a:solidFill>
                <a:latin typeface="Calibri"/>
              </a:rPr>
              <a:t>Activity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Track listings, offers, and transaction status in one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057400"/>
            <a:ext cx="4846320" cy="3840480"/>
          </a:xfrm>
          <a:prstGeom prst="roundRect">
            <a:avLst>
              <a:gd name="adj" fmla="val 8000"/>
            </a:avLst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377440"/>
            <a:ext cx="42976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Desktop &amp; mobile parity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500" b="0">
                <a:solidFill>
                  <a:srgbClr val="F7F4EF"/>
                </a:solidFill>
                <a:latin typeface="Calibri"/>
              </a:rPr>
              <a:t>→  Responsive market grids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500" b="0">
                <a:solidFill>
                  <a:srgbClr val="F7F4EF"/>
                </a:solidFill>
                <a:latin typeface="Calibri"/>
              </a:rPr>
              <a:t>→  Portrait product cards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500" b="0">
                <a:solidFill>
                  <a:srgbClr val="F7F4EF"/>
                </a:solidFill>
                <a:latin typeface="Calibri"/>
              </a:rPr>
              <a:t>→  Hover / quick-view actions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500" b="0">
                <a:solidFill>
                  <a:srgbClr val="F7F4EF"/>
                </a:solidFill>
                <a:latin typeface="Calibri"/>
              </a:rPr>
              <a:t>→  Same features on phone &amp; desktop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500" b="0">
                <a:solidFill>
                  <a:srgbClr val="F7F4EF"/>
                </a:solidFill>
                <a:latin typeface="Calibri"/>
              </a:rPr>
              <a:t>→  Installable PWA shell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05  DONATION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Give to people — and to places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Peer gifts plus verified donation centres (orphanages, shelters, community orgs).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Centres directory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Browse verified orphanages and centres with story, needs, and live tagged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0312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42316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Donation basket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Add multiple clothing items in one session, tag a centre, submit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6908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8912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Claim &amp; fulfill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Centre staff or peers claim gifts; donors approve in Activity.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6908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38912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3024"/>
                </a:solidFill>
                <a:latin typeface="Georgia"/>
              </a:rPr>
              <a:t>Impact loop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Donations feed motivation, leaderboard, and public recognition.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06  MOTIVATION &amp;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Donor tiers and expressive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Recognition that makes giving stick — without turning the product into a badge farm.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331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C3024"/>
                </a:solidFill>
                <a:latin typeface="Georgia"/>
              </a:rPr>
              <a:t>Seedling</a:t>
            </a:r>
          </a:p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Start giving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031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468880"/>
            <a:ext cx="2331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C3024"/>
                </a:solidFill>
                <a:latin typeface="Georgia"/>
              </a:rPr>
              <a:t>Helper</a:t>
            </a:r>
          </a:p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Build rhythm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031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331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C3024"/>
                </a:solidFill>
                <a:latin typeface="Georgia"/>
              </a:rPr>
              <a:t>Guardian</a:t>
            </a:r>
          </a:p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Consistent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1031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468880"/>
            <a:ext cx="2331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Champion</a:t>
            </a:r>
          </a:p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F7F4EF"/>
                </a:solidFill>
                <a:latin typeface="Calibri"/>
              </a:rPr>
              <a:t>Community leader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10881360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Georgia"/>
              </a:rPr>
              <a:t>Tumblr-like customizable profiles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Banner, accent colour, bio, and layout themes — teens express identity while their public giving story stays visible.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07  TRUST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Verification is the product, not a footnote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697480" cy="35661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2402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A3A"/>
                </a:solidFill>
                <a:latin typeface="Calibri"/>
              </a:rPr>
              <a:t>01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2200" b="1">
                <a:solidFill>
                  <a:srgbClr val="1C3024"/>
                </a:solidFill>
                <a:latin typeface="Georgia"/>
              </a:rPr>
              <a:t>List</a:t>
            </a:r>
          </a:p>
          <a:p>
            <a:pPr algn="l">
              <a:spcBef>
                <a:spcPts val="16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Seller / donor submits item with required photos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48840"/>
            <a:ext cx="2697480" cy="3566160"/>
          </a:xfrm>
          <a:prstGeom prst="roundRect">
            <a:avLst>
              <a:gd name="adj" fmla="val 8000"/>
            </a:avLst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468880"/>
            <a:ext cx="22402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BE4D6"/>
                </a:solidFill>
                <a:latin typeface="Calibri"/>
              </a:rPr>
              <a:t>02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Pending</a:t>
            </a:r>
          </a:p>
          <a:p>
            <a:pPr algn="l">
              <a:spcBef>
                <a:spcPts val="1600"/>
              </a:spcBef>
              <a:spcAft>
                <a:spcPts val="600"/>
              </a:spcAft>
            </a:pPr>
            <a:r>
              <a:rPr sz="1400" b="0">
                <a:solidFill>
                  <a:srgbClr val="F7F4EF"/>
                </a:solidFill>
                <a:latin typeface="Calibri"/>
              </a:rPr>
              <a:t>Listing waits in admin queue — not public yet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2697480" cy="3566160"/>
          </a:xfrm>
          <a:prstGeom prst="roundRect">
            <a:avLst>
              <a:gd name="adj" fmla="val 8000"/>
            </a:avLst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468880"/>
            <a:ext cx="22402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BE4D6"/>
                </a:solidFill>
                <a:latin typeface="Calibri"/>
              </a:rPr>
              <a:t>03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Verify</a:t>
            </a:r>
          </a:p>
          <a:p>
            <a:pPr algn="l">
              <a:spcBef>
                <a:spcPts val="1600"/>
              </a:spcBef>
              <a:spcAft>
                <a:spcPts val="600"/>
              </a:spcAft>
            </a:pPr>
            <a:r>
              <a:rPr sz="1400" b="0">
                <a:solidFill>
                  <a:srgbClr val="F7F4EF"/>
                </a:solidFill>
                <a:latin typeface="Calibri"/>
              </a:rPr>
              <a:t>Zyra admin approves or rejects with reason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148840"/>
            <a:ext cx="2697480" cy="35661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2468880"/>
            <a:ext cx="22402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A3A"/>
                </a:solidFill>
                <a:latin typeface="Calibri"/>
              </a:rPr>
              <a:t>04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2200" b="1">
                <a:solidFill>
                  <a:srgbClr val="1C3024"/>
                </a:solidFill>
                <a:latin typeface="Georgia"/>
              </a:rPr>
              <a:t>Live</a:t>
            </a:r>
          </a:p>
          <a:p>
            <a:pPr algn="l">
              <a:spcBef>
                <a:spcPts val="16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Only Verified by Zyra appears on Market / Donate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08  USER JOURNEYS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Three primary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3611880" cy="64008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Seller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632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C3024"/>
                </a:solidFill>
                <a:latin typeface="Calibri"/>
              </a:rPr>
              <a:t>Open Sell composer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Add photos + price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Submit → Pending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Verified → live on Market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Buyer pays COD / online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057400"/>
            <a:ext cx="3611880" cy="64008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76272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Donor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80360"/>
            <a:ext cx="30632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C3024"/>
                </a:solidFill>
                <a:latin typeface="Calibri"/>
              </a:rPr>
              <a:t>Browse centres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Build donation basket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Tag orphanage / centre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Zyra verifies gifts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Staff or peer claims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3611880" cy="64008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76272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80360"/>
            <a:ext cx="30632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C3024"/>
                </a:solidFill>
                <a:latin typeface="Calibri"/>
              </a:rPr>
              <a:t>Open ERP queue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Review photos &amp; details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Approve or reject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Track transactions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Manage centres &amp; settings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09 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Production-grade stack, live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C6B62"/>
                </a:solidFill>
                <a:latin typeface="Calibri"/>
              </a:rPr>
              <a:t>Not a disposable mock — every listing, claim, and verification hits live Supabase.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Georgia"/>
              </a:rPr>
              <a:t>Frontend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Next.js App Router, TypeScript, Tailwind, shadcn/ui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Georgia"/>
              </a:rPr>
              <a:t>Backend data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Supabase Postgres + Auth + Storage + RLS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4884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68880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Georgia"/>
              </a:rPr>
              <a:t>Payments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Stripe test mode + COD-ready checkout 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Georgia"/>
              </a:rPr>
              <a:t>Delivery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Responsive web + Progressive Web App install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11480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434840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Georgia"/>
              </a:rPr>
              <a:t>Ops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Admin ERP: queue, transactions, CMS, analytics, centres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11480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434840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3024"/>
                </a:solidFill>
                <a:latin typeface="Georgia"/>
              </a:rPr>
              <a:t>Quality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Mobile–desktop feature parity as a product rule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10 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Admin ERP to run the live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063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Verification queue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F7F4EF"/>
                </a:solidFill>
                <a:latin typeface="Calibri"/>
              </a:rPr>
              <a:t>Approve / reject listings with audit reasons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468880"/>
            <a:ext cx="3063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Transactions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F7F4EF"/>
                </a:solidFill>
                <a:latin typeface="Calibri"/>
              </a:rPr>
              <a:t>Monitor buys, COD, and seller payout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0312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468880"/>
            <a:ext cx="3063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Centres admin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F7F4EF"/>
                </a:solidFill>
                <a:latin typeface="Calibri"/>
              </a:rPr>
              <a:t>Manage donation destinations and visibility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3063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C3024"/>
                </a:solidFill>
                <a:latin typeface="Georgia"/>
              </a:rPr>
              <a:t>CMS &amp; experiments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Heroes, content blocks, A/B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06908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4434840"/>
            <a:ext cx="3063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C3024"/>
                </a:solidFill>
                <a:latin typeface="Georgia"/>
              </a:rPr>
              <a:t>Analytics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Audience, listing, and seller performance 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06908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434840"/>
            <a:ext cx="3063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C3024"/>
                </a:solidFill>
                <a:latin typeface="Georgia"/>
              </a:rPr>
              <a:t>Settings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5C6B62"/>
                </a:solidFill>
                <a:latin typeface="Calibri"/>
              </a:rPr>
              <a:t>Currency, fee %, users, and approvers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11 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Why Zyra stands apart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881360" cy="50292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03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Zyra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03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Typical alternatives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10881360" cy="6858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7919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3024"/>
                </a:solidFill>
                <a:latin typeface="Calibri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7919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3024"/>
                </a:solidFill>
                <a:latin typeface="Calibri"/>
              </a:rPr>
              <a:t>Teen-clear language and safety-first 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67919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B62"/>
                </a:solidFill>
                <a:latin typeface="Calibri"/>
              </a:rPr>
              <a:t>Adult resale marketplaces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00400"/>
            <a:ext cx="10881360" cy="685800"/>
          </a:xfrm>
          <a:prstGeom prst="rect">
            <a:avLst/>
          </a:prstGeom>
          <a:solidFill>
            <a:srgbClr val="EB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6499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3024"/>
                </a:solidFill>
                <a:latin typeface="Calibri"/>
              </a:rPr>
              <a:t>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36499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3024"/>
                </a:solidFill>
                <a:latin typeface="Calibri"/>
              </a:rPr>
              <a:t>Mandatory admin verification before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36499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B62"/>
                </a:solidFill>
                <a:latin typeface="Calibri"/>
              </a:rPr>
              <a:t>Self-serve, trust optional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10881360" cy="6858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5079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3024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05079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3024"/>
                </a:solidFill>
                <a:latin typeface="Calibri"/>
              </a:rPr>
              <a:t>Marketplace + donation centres in one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05079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B62"/>
                </a:solidFill>
                <a:latin typeface="Calibri"/>
              </a:rPr>
              <a:t>Sell-only or charity-only apps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72000"/>
            <a:ext cx="10881360" cy="685800"/>
          </a:xfrm>
          <a:prstGeom prst="rect">
            <a:avLst/>
          </a:prstGeom>
          <a:solidFill>
            <a:srgbClr val="EB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3659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3024"/>
                </a:solidFill>
                <a:latin typeface="Calibri"/>
              </a:rPr>
              <a:t>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3659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3024"/>
                </a:solidFill>
                <a:latin typeface="Calibri"/>
              </a:rPr>
              <a:t>Custom profiles + donor tiers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73659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B62"/>
                </a:solidFill>
                <a:latin typeface="Calibri"/>
              </a:rPr>
              <a:t>Generic account pages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257800"/>
            <a:ext cx="10881360" cy="6858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42239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C3024"/>
                </a:solidFill>
                <a:latin typeface="Calibri"/>
              </a:rP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42239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3024"/>
                </a:solidFill>
                <a:latin typeface="Calibri"/>
              </a:rPr>
              <a:t>PWA + mobile–desktop parity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422392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B62"/>
                </a:solidFill>
                <a:latin typeface="Calibri"/>
              </a:rPr>
              <a:t>Mobile-only or desktop-first gaps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C6B62"/>
                </a:solidFill>
                <a:latin typeface="Calibri"/>
              </a:rPr>
              <a:t>Zyra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2"/>
                </a:solidFill>
                <a:latin typeface="Calibri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F4A3A"/>
                </a:solidFill>
                <a:latin typeface="Calibri"/>
              </a:rPr>
              <a:t>12 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C3024"/>
                </a:solidFill>
                <a:latin typeface="Georgia"/>
              </a:rPr>
              <a:t>Shipped now. Next horizon.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31546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Production-capable today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F7F4EF"/>
                </a:solidFill>
                <a:latin typeface="Calibri"/>
              </a:rPr>
              <a:t>•  Verified marketplace &amp; donation hub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F7F4EF"/>
                </a:solidFill>
                <a:latin typeface="Calibri"/>
              </a:rPr>
              <a:t>•  Donation centres + basket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F7F4EF"/>
                </a:solidFill>
                <a:latin typeface="Calibri"/>
              </a:rPr>
              <a:t>•  Donor tiers &amp; themed profiles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F7F4EF"/>
                </a:solidFill>
                <a:latin typeface="Calibri"/>
              </a:rPr>
              <a:t>•  Admin ERP modules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F7F4EF"/>
                </a:solidFill>
                <a:latin typeface="Calibri"/>
              </a:rPr>
              <a:t>•  PWA installable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31546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3024"/>
                </a:solidFill>
                <a:latin typeface="Georgia"/>
              </a:rPr>
              <a:t>Near-term hardening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•  E2E test suite &amp; rate limits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•  Richer messaging UI pages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•  Centre self-signup / KYC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•  Push on tier milestones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5740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31546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3024"/>
                </a:solidFill>
                <a:latin typeface="Georgia"/>
              </a:rPr>
              <a:t>Strategic expansion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•  Money donations to centres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•  Logistics partnerships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•  Live payments &amp; payouts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5C6B62"/>
                </a:solidFill>
                <a:latin typeface="Calibri"/>
              </a:rPr>
              <a:t>•  Native app wrappers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1280160" cy="73152"/>
          </a:xfrm>
          <a:prstGeom prst="rect">
            <a:avLst/>
          </a:prstGeom>
          <a:solidFill>
            <a:srgbClr val="EB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BE4D6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Clothes that get a second life.</a:t>
            </a:r>
          </a:p>
          <a:p>
            <a:pPr algn="l">
              <a:spcBef>
                <a:spcPts val="1600"/>
              </a:spcBef>
              <a:spcAft>
                <a:spcPts val="600"/>
              </a:spcAft>
            </a:pPr>
            <a:r>
              <a:rPr sz="1600" b="0">
                <a:solidFill>
                  <a:srgbClr val="F7F4EF"/>
                </a:solidFill>
                <a:latin typeface="Calibri"/>
              </a:rPr>
              <a:t>Zyra turns outgrown fashion into trusted local reuse — for teens, centres, and communities.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BE4D6"/>
                </a:solidFill>
                <a:latin typeface="Calibri"/>
              </a:rPr>
              <a:t>Next step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Product walkthrough  ·  Demo accounts  ·  Pilot with a donation centre</a:t>
            </a:r>
          </a:p>
          <a:p>
            <a:pPr algn="l">
              <a:spcBef>
                <a:spcPts val="1800"/>
              </a:spcBef>
              <a:spcAft>
                <a:spcPts val="600"/>
              </a:spcAft>
            </a:pPr>
            <a:r>
              <a:rPr sz="1200" b="0">
                <a:solidFill>
                  <a:srgbClr val="D8D0C0"/>
                </a:solidFill>
                <a:latin typeface="Calibri"/>
              </a:rPr>
              <a:t>zyra  ·  circular fashion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